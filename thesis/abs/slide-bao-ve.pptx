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Lst>
  <p:sldSz cx="121932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 chào thầy cô. Em là Nguyễn Hồng Quân, lớp DX23TT11. Hôm nay em xin trình bày đồ án thực tập chuyên ngành: Xây dựng website giới thiệu và đặt phòng homestay cho Homestay TVH, dưới sự hướng dẫn của thầy Nguyễn Nhứt Lam.</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Phần trình bày của em gồm năm mục. Em xin phép dành nhiều thời gian nhất cho mục thứ hai — vấn đề kỹ thuật then chốt — vì đó là chỗ em đầu tư công sức nhiều nhất và cũng là chỗ em nghĩ có giá trị nhất của đề tài. Ba mục còn lại em sẽ đi nhanh hơn.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 lịch homestay ở Trà Vinh đang phát triển, nhưng phần lớn cơ sở là hộ gia đình tự vận hành. Chủ nhà nhận đặt phòng qua nhiều kênh tin nhắn khác nhau, mỗi kênh là một danh sách riêng nằm trong trí nhớ. Lưu đồ trên slide là quy trình thủ công hiện nay, và ba ô tô đỏ là ba chỗ hỏng: tra cứu lịch bằng trí nhớ, không có bản ghi tập trung nên mất sổ là mất hết, và nguy hiểm nhất là hai khách nhắn gần như cùng lúc thì đều được trả lời là còn phòng. Còn nếu đưa lên sàn trung gian thì mất 15 đến 20 phần trăm mỗi đơn.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 muốn dừng lại ở rủi ro thứ ba, vì nó mới là bài toán kỹ thuật thật sự. Đây không phải lỗi bất cẩn của chủ nhà. Đây là hệ quả tất yếu của việc quản lý lịch phòng bằng trí nhớ con người: giữa lúc nhìn vào sổ và lúc ghi vào sổ luôn có một khoảng trống thời gian, và trong khoảng đó người thứ hai chen vào được. Hậu quả thì chỉ lộ ra vào ngày nhận phòng, khi khách đã tới nơi — lúc đó không còn cách nào sửa.</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Trước khi nói chuyện chống đặt trùng, phải thống nhất với nhau thế nào là trùng. Hai thanh trên hình chạm nhau tại ngày mùng mười tháng ba, nhưng chúng không chồng lấn: khách thứ nhất trả phòng buổi sáng, khách thứ hai nhận phòng buổi chiều, cùng một ngày mà vẫn bán được cho cả hai. Em dùng quy ước nửa mở, viết là ngoặc vuông mở ngoặc tròn đóng, nghĩa là chứa ngày nhận nhưng không chứa ngày trả. Nếu làm sai quy ước này thì mỗi phòng mất một đêm bán được ở mỗi lượt khách — một lỗi nhỏ trên giấy nhưng rất tốn tiền.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Từ bài toán đó, đồ án đặt ra tám mục đích cụ thể, và điều em cố giữ là mỗi mục đích phải đi kèm một tiêu chí nghiệm thu đo được bằng lệnh, chứ không phải một lời hứa. Hệ thống gồm ba khối: trang bán hàng cho khách, khu quản trị cho chủ homestay, và giao diện lập trình ứng dụng nối hai khối đó. Khách đặt cọc bằng mã QR và hệ thống tự xác nhận khi tiền về.</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Về công nghệ, em dùng Java 21 với Spring Boot cho tầng máy chủ, Angular 21 cho tầng giao diện, và đóng gói bằng Docker Compose. Em xin nhấn mạnh dòng thứ ba: em chọn PostgreSQL không phải vì nó mạnh hơn MySQL một cách chung chung, mà vì một tính năng rất cụ thể mà MySQL không có. Hai slide nữa em sẽ nói rõ tính năng đó là gì và vì sao nó quyết định cả đề tài.</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Hệ thống chạy bốn dịch vụ. Máy chủ web là đường vào duy nhất từ bên ngoài; nó phục vụ tệp tĩnh của giao diện và chuyển tiếp các lời gọi vào máy chủ ứng dụng. Cơ sở dữ liệu và hộp thư không mở cổng ra ngoài — chỉ máy chủ ứng dụng gọi tới được. Cách chia này nghĩa là dù ai đó dò được địa chỉ máy, họ cũng không chạm thẳng vào cơ sở dữ liệu, và mọi yêu cầu đều đi qua đúng một cửa có kiểm soát.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Đây là slide quan trọng nhất của bài. Cách làm tự nhiên nhất khi gặp bài toán này là viết mã kiểm tra: trước khi ghi đơn thì truy vấn xem phòng còn trống không, còn thì mới ghi. Cột bên trái cho thấy vì sao cách đó sai. Hai luồng chạy song song, cả hai cùng đọc và cùng thấy còn phòng, rồi cả hai cùng ghi — kết quả là bán trùng. Khoảng trống giữa lúc đọc và lúc ghi là một khe hở không bịt được bằng logic thông thường. Và điều đáng nói là mức cô lập giao dịch mặc định của PostgreSQL, Read Committed, cũng không ngăn được chuyện này — chính tài liệu của PostgreSQL nêu ví dụ đúng như vậy, và khuyến cáo dùng ràng buộc toàn vẹn thay vì kiểm tra ở tầng ứng dụng.</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Nên em không kiểm ở tầng ứng dụng nữa, mà đẩy việc quyết định xuống chính cơ sở dữ liệu. Em khai một ràng buộc loại trừ: hai dòng bị coi là xung đột nếu cùng mã phòng và hai khoảng ngày chồng lấn nhau. Khoảng ngày là một cột sinh tự động kiểu daterange theo quy ước nửa mở em vừa trình bày. Ràng buộc này dùng chỉ số GiST, vì chỉ số B-tree thông thường không so sánh được quan hệ chồng lấn. Khi hai giao dịch cùng ghi, PostgreSQL bác một giao dịch ngay trong động cơ lưu trữ bằng mã lỗi 23P01, không còn khe hở nào để chen vào. Hệ thống bắt đúng mã lỗi đó rồi tự thử phòng trống tiếp theo trong một giao dịch mới, nên khách thứ hai vẫn đặt được nếu loại phòng còn phòng khác.</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Lược đồ có 21 bảng nghiệp vụ, dựng bởi chín migration. Hình trên slide là nhóm bảng đặt phòng — nơi đặt ràng buộc em vừa nói. Hai điểm em muốn nêu: thứ nhất, lược đồ do công cụ migration quản lý chứ không để khung ứng dụng tự sinh, và migration là bất biến — đã chạy thì không sửa, chỉ thêm bản mới. Thứ hai, dữ liệu mẫu nằm ngoài lịch sử migration, nên bản triển khai thật và bản trình diễn dùng chung một lược đồ mà không lẫn dữ liệu.</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Đơn đặt phòng đi qua tám trạng thái. Em xin lưu ý hai đường chuyển ở phía dưới hình: đơn đã huỷ và đơn đã hết hạn vẫn quay lại được trạng thái chờ đối soát. Đó là trường hợp tiền của khách về muộn — khách chuyển khoản chậm, đơn đã hết hạn giữ chỗ, nhưng tiền thì vẫn vào tài khoản thật. Nếu không có hai đường này thì tiền đã vào mà hệ thống coi như không có gì xảy ra. Em thiết kế sao cho không có nhánh nào để tiền của khách biến mất im lặng.</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Luồng thanh toán như sau. Sau khi đặt, khách thấy mã QR theo chuẩn VietQR đã gắn sẵn số tiền và nội dung chuyển khoản, kèm đồng hồ đếm ngược mười lăm phút giữ chỗ. Khách quét và chuyển khoản; nhà cung cấp dịch vụ gọi webhook báo về cho hệ thống; hệ thống tự xác nhận đơn và gửi thư cho khách. Màn hình của khách tự chuyển khi tiền về, khách không phải bấm gì thêm. Điểm em muốn nhấn: trước khi cho một đồng nào ảnh hưởng tới dữ liệu, hệ thống kiểm năm lớp — khoá xác thực của webhook, đúng số tài khoản nhận, đúng chiều tiền vào, chống xử lý trùng một giao dịch, và cuối cùng là đúng số tiền.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Phía khách, luồng đặt phòng gọn trong ba bước: chọn ngày và số khách, chọn phòng, rồi xác nhận. Hai chi tiết nhỏ nhưng em cho là quan trọng. Thứ nhất, giá hiển thị là tổng tiền cả kỳ chứ không phải giá một đêm — đó mới là con số khách thực sự muốn biết trước khi quyết định. Thứ hai, những ngày đã kín phòng bị chặn sẵn ngay trong lịch, khách không chọn được; hệ thống không để khách điền xong hết thông tin rồi mới báo là hết phòng.</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Khu quản trị có mười một màn hình. Trang tổng quan hiện giá trị booking theo tháng, tỉ lệ lấp đầy, tỉ lệ huỷ, và số khoản tiền đang chờ đối soát. Em thiết kế khu này ưu tiên mật độ thông tin chứ không ưu tiên đẹp, vì chủ homestay mở nó hằng ngày và cần nhìn một lần là nắm được tình hình, không phải bấm qua nhiều lớp.</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Về kiểm chứng, hệ thống có 136 ca kiểm thử trong 19 lớp. Điểm em muốn nói rõ là kiểm thử tích hợp chạy trên PostgreSQL thật qua Testcontainers chứ không giả lập bằng cơ sở dữ liệu trong bộ nhớ — vì thứ cần kiểm chính là hành vi của PostgreSQL: ràng buộc loại trừ, kiểu khoảng, mã trạng thái SQL. Giả lập chúng là kiểm thử một thứ không tồn tại. Trong đó có ba ca kiểm thử đa luồng chứng minh trực tiếp rằng hệ thống không bán trùng phòng. Em cũng xin báo trung thực: lần chạy đầy đủ gần nhất xanh 129 ca; bảy ca của lớp kiểm thử nút mô phỏng chuyển khoản bổ sung sau đó em mới kiểm chứng bằng cách gọi trực tiếp qua HTTP, chưa qua một lần chạy đầy đủ cả 136 ca.</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Bảng trên slide là kết quả quét thật chứ không phải con số em tự ghi: mỗi dòng là một màn hình, cột giữa là số vi phạm. Em quét tự động bằng axe-core trên mười bảy màn hình, bảy màn công khai và mười màn quản trị, và quét ngay trên bản đóng gói đang chạy — tức là đi qua đúng máy chủ web và đúng chính sách bảo mật nội dung của bản triển khai, chứ không phải chạy trên máy phát triển. Kết quả không còn lỗi vi phạm nào ở mức A và AA, trên tổng 353 lần quy tắc đạt. Về triển khai, toàn hệ thống chạy được bằng ba lệnh, và cả bốn dịch vụ đều báo trạng thái khoẻ.</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 xin nêu rõ giới hạn thay vì giấu đi. Ba giới hạn trên slide là những chỗ em biết hệ thống chưa làm được. Ngoài ra trong báo cáo em liệt kê đủ bảy giới hạn, và em cho rằng giới hạn quan trọng nhất là bản đóng gói hiện chưa có HTTPS, vì nó chạy trên máy cục bộ khi trình diễn — nếu đưa ra dùng thật thì đây là việc phải làm đầu tiên. Điểm chung của những giới hạn này là chúng đều là chỗ mở rộng được, không phải chỗ thiết kế sai.</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 hướng phát triển tiếp theo. Bảng giá theo mùa là thứ cần nhất về nghiệp vụ, vì giá cuối tuần và giá lễ khác hẳn ngày thường. Về ứng dụng di động, chính vì em tách rời giao diện và máy chủ ngay từ đầu nên ứng dụng di động dùng lại được nguyên giao diện lập trình ứng dụng hiện có, không phải viết lại tầng máy chủ. Hướng thứ ba là đồng bộ lịch hai chiều với sàn trung gian, để chủ nhà vẫn bán trên sàn mà không lo trùng lịch.</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này để thầy cô mở lại bất cứ lúc nào: video thuyết trình, kho mã nguồn và bản trình diễn hệ thống dài mười phút đi hết toàn bộ quy trình. Kho mã nguồn em để công khai nên thầy cô mở được ngay, không cần xin quyền truy cập.</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Phần trình bày của em đến đây là hết. Em xin cảm ơn thầy cô đã lắng nghe, và em sẵn sàng trả lời câu hỏi của thầy cô.</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E5C63"/>
        </a:solidFill>
        <a:effectLst/>
      </p:bgPr>
    </p:bg>
    <p:spTree>
      <p:nvGrpSpPr>
        <p:cNvPr id="1" name=""/>
        <p:cNvGrpSpPr/>
        <p:nvPr/>
      </p:nvGrpSpPr>
      <p:grpSpPr/>
      <p:sp>
        <p:nvSpPr>
          <p:cNvPr id="2" name="TextBox 1"/>
          <p:cNvSpPr txBox="1"/>
          <p:nvPr/>
        </p:nvSpPr>
        <p:spPr>
          <a:xfrm>
            <a:off x="900000" y="1152000"/>
            <a:ext cx="10393200" cy="4320000"/>
          </a:xfrm>
          <a:prstGeom prst="rect">
            <a:avLst/>
          </a:prstGeom>
          <a:noFill/>
        </p:spPr>
        <p:txBody>
          <a:bodyPr wrap="square" anchor="ctr">
            <a:spAutoFit/>
          </a:bodyPr>
          <a:lstStyle/>
          <a:p/>
          <a:p>
            <a:pPr algn="ctr">
              <a:spcAft>
                <a:spcPts val="400"/>
              </a:spcAft>
            </a:pPr>
            <a:r>
              <a:rPr sz="2000" b="0" i="0">
                <a:solidFill>
                  <a:srgbClr val="C8DED6"/>
                </a:solidFill>
                <a:latin typeface="Times New Roman"/>
              </a:rPr>
              <a:t>TRƯỜNG ĐẠI HỌC TRÀ VINH</a:t>
            </a:r>
          </a:p>
          <a:p>
            <a:pPr algn="ctr">
              <a:spcAft>
                <a:spcPts val="2600"/>
              </a:spcAft>
            </a:pPr>
            <a:r>
              <a:rPr sz="2000" b="0" i="0">
                <a:solidFill>
                  <a:srgbClr val="C8DED6"/>
                </a:solidFill>
                <a:latin typeface="Times New Roman"/>
              </a:rPr>
              <a:t>KHOA KỸ THUẬT VÀ CÔNG NGHỆ</a:t>
            </a:r>
          </a:p>
          <a:p>
            <a:pPr algn="ctr">
              <a:spcAft>
                <a:spcPts val="1200"/>
              </a:spcAft>
            </a:pPr>
            <a:r>
              <a:rPr sz="2400" b="0" i="0">
                <a:solidFill>
                  <a:srgbClr val="C8DED6"/>
                </a:solidFill>
                <a:latin typeface="Times New Roman"/>
              </a:rPr>
              <a:t>ĐỒ ÁN THỰC TẬP CHUYÊN NGÀNH</a:t>
            </a:r>
          </a:p>
          <a:p>
            <a:pPr algn="ctr">
              <a:spcAft>
                <a:spcPts val="0"/>
              </a:spcAft>
            </a:pPr>
            <a:r>
              <a:rPr sz="4000" b="1" i="0">
                <a:solidFill>
                  <a:srgbClr val="FFFFFF"/>
                </a:solidFill>
                <a:latin typeface="Times New Roman"/>
              </a:rPr>
              <a:t>XÂY DỰNG WEBSITE GIỚI THIỆU</a:t>
            </a:r>
          </a:p>
          <a:p>
            <a:pPr algn="ctr">
              <a:spcAft>
                <a:spcPts val="3000"/>
              </a:spcAft>
            </a:pPr>
            <a:r>
              <a:rPr sz="4000" b="1" i="0">
                <a:solidFill>
                  <a:srgbClr val="FFFFFF"/>
                </a:solidFill>
                <a:latin typeface="Times New Roman"/>
              </a:rPr>
              <a:t>VÀ ĐẶT PHÒNG HOMESTAY – HOMESTAY TVH</a:t>
            </a:r>
          </a:p>
          <a:p>
            <a:pPr algn="ctr">
              <a:spcAft>
                <a:spcPts val="400"/>
              </a:spcAft>
            </a:pPr>
            <a:r>
              <a:rPr sz="2000" b="0" i="0">
                <a:solidFill>
                  <a:srgbClr val="C8DED6"/>
                </a:solidFill>
                <a:latin typeface="Times New Roman"/>
              </a:rPr>
              <a:t>Giảng viên hướng dẫn:  ThS. Nguyễn Nhứt Lam</a:t>
            </a:r>
          </a:p>
          <a:p>
            <a:pPr algn="ctr">
              <a:spcAft>
                <a:spcPts val="400"/>
              </a:spcAft>
            </a:pPr>
            <a:r>
              <a:rPr sz="2000" b="0" i="0">
                <a:solidFill>
                  <a:srgbClr val="C8DED6"/>
                </a:solidFill>
                <a:latin typeface="Times New Roman"/>
              </a:rPr>
              <a:t>Sinh viên thực hiện:  Nguyễn Hồng Quân</a:t>
            </a:r>
          </a:p>
          <a:p>
            <a:pPr algn="ctr">
              <a:spcAft>
                <a:spcPts val="0"/>
              </a:spcAft>
            </a:pPr>
            <a:r>
              <a:rPr sz="2000" b="0" i="0">
                <a:solidFill>
                  <a:srgbClr val="C8DED6"/>
                </a:solidFill>
                <a:latin typeface="Times New Roman"/>
              </a:rPr>
              <a:t>Mã số sinh viên:  170123592      Lớp:  DX23TT11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BF9F6"/>
        </a:solidFill>
        <a:effectLst/>
      </p:bgPr>
    </p:bg>
    <p:spTree>
      <p:nvGrpSpPr>
        <p:cNvPr id="1" name=""/>
        <p:cNvGrpSpPr/>
        <p:nvPr/>
      </p:nvGrpSpPr>
      <p:grpSpPr/>
      <p:sp>
        <p:nvSpPr>
          <p:cNvPr id="2" name="Rectangle 1"/>
          <p:cNvSpPr/>
          <p:nvPr/>
        </p:nvSpPr>
        <p:spPr>
          <a:xfrm>
            <a:off x="0" y="0"/>
            <a:ext cx="12193200" cy="144000"/>
          </a:xfrm>
          <a:prstGeom prst="rect">
            <a:avLst/>
          </a:prstGeom>
          <a:solidFill>
            <a:srgbClr val="0E5C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8000" y="396000"/>
            <a:ext cx="10897200" cy="936000"/>
          </a:xfrm>
          <a:prstGeom prst="rect">
            <a:avLst/>
          </a:prstGeom>
          <a:noFill/>
        </p:spPr>
        <p:txBody>
          <a:bodyPr wrap="square" anchor="t">
            <a:spAutoFit/>
          </a:bodyPr>
          <a:lstStyle/>
          <a:p>
            <a:r>
              <a:rPr sz="4400" b="1" i="0">
                <a:solidFill>
                  <a:srgbClr val="0E5C63"/>
                </a:solidFill>
                <a:latin typeface="Times New Roman"/>
              </a:rPr>
              <a:t>Nội dung trình bày</a:t>
            </a:r>
          </a:p>
        </p:txBody>
      </p:sp>
      <p:sp>
        <p:nvSpPr>
          <p:cNvPr id="4" name="TextBox 3"/>
          <p:cNvSpPr txBox="1"/>
          <p:nvPr/>
        </p:nvSpPr>
        <p:spPr>
          <a:xfrm>
            <a:off x="648000" y="1584000"/>
            <a:ext cx="10897200" cy="4770001"/>
          </a:xfrm>
          <a:prstGeom prst="rect">
            <a:avLst/>
          </a:prstGeom>
          <a:noFill/>
        </p:spPr>
        <p:txBody>
          <a:bodyPr wrap="square" anchor="t">
            <a:spAutoFit/>
          </a:bodyPr>
          <a:lstStyle/>
          <a:p>
            <a:pPr marL="324000" indent="-324000">
              <a:spcAft>
                <a:spcPts val="1600"/>
              </a:spcAft>
            </a:pPr>
            <a:r>
              <a:rPr sz="3200" b="0" i="0">
                <a:solidFill>
                  <a:srgbClr val="1A1A17"/>
                </a:solidFill>
                <a:latin typeface="Times New Roman"/>
              </a:rPr>
              <a:t>▪  Bài toán và mục tiêu</a:t>
            </a:r>
          </a:p>
          <a:p>
            <a:pPr marL="324000" indent="-324000">
              <a:spcAft>
                <a:spcPts val="1600"/>
              </a:spcAft>
            </a:pPr>
            <a:r>
              <a:rPr sz="3200" b="0" i="0">
                <a:solidFill>
                  <a:srgbClr val="1A1A17"/>
                </a:solidFill>
                <a:latin typeface="Times New Roman"/>
              </a:rPr>
              <a:t>▪  Vấn đề kỹ thuật then chốt</a:t>
            </a:r>
          </a:p>
          <a:p>
            <a:pPr marL="324000" indent="-324000">
              <a:spcAft>
                <a:spcPts val="1600"/>
              </a:spcAft>
            </a:pPr>
            <a:r>
              <a:rPr sz="3200" b="0" i="0">
                <a:solidFill>
                  <a:srgbClr val="1A1A17"/>
                </a:solidFill>
                <a:latin typeface="Times New Roman"/>
              </a:rPr>
              <a:t>▪  Thiết kế và cài đặt</a:t>
            </a:r>
          </a:p>
          <a:p>
            <a:pPr marL="324000" indent="-324000">
              <a:spcAft>
                <a:spcPts val="1600"/>
              </a:spcAft>
            </a:pPr>
            <a:r>
              <a:rPr sz="3200" b="0" i="0">
                <a:solidFill>
                  <a:srgbClr val="1A1A17"/>
                </a:solidFill>
                <a:latin typeface="Times New Roman"/>
              </a:rPr>
              <a:t>▪  Kết quả kiểm chứng</a:t>
            </a:r>
          </a:p>
          <a:p>
            <a:pPr marL="324000" indent="-324000">
              <a:spcAft>
                <a:spcPts val="1600"/>
              </a:spcAft>
            </a:pPr>
            <a:r>
              <a:rPr sz="3200" b="0" i="0">
                <a:solidFill>
                  <a:srgbClr val="1A1A17"/>
                </a:solidFill>
                <a:latin typeface="Times New Roman"/>
              </a:rPr>
              <a:t>▪  Giới hạn và hướng phát triển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BF9F6"/>
        </a:solidFill>
        <a:effectLst/>
      </p:bgPr>
    </p:bg>
    <p:spTree>
      <p:nvGrpSpPr>
        <p:cNvPr id="1" name=""/>
        <p:cNvGrpSpPr/>
        <p:nvPr/>
      </p:nvGrpSpPr>
      <p:grpSpPr/>
      <p:sp>
        <p:nvSpPr>
          <p:cNvPr id="2" name="Rectangle 1"/>
          <p:cNvSpPr/>
          <p:nvPr/>
        </p:nvSpPr>
        <p:spPr>
          <a:xfrm>
            <a:off x="0" y="0"/>
            <a:ext cx="12193200" cy="144000"/>
          </a:xfrm>
          <a:prstGeom prst="rect">
            <a:avLst/>
          </a:prstGeom>
          <a:solidFill>
            <a:srgbClr val="0E5C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8000" y="396000"/>
            <a:ext cx="10897200" cy="936000"/>
          </a:xfrm>
          <a:prstGeom prst="rect">
            <a:avLst/>
          </a:prstGeom>
          <a:noFill/>
        </p:spPr>
        <p:txBody>
          <a:bodyPr wrap="square" anchor="t">
            <a:spAutoFit/>
          </a:bodyPr>
          <a:lstStyle/>
          <a:p>
            <a:r>
              <a:rPr sz="3600" b="1" i="0">
                <a:solidFill>
                  <a:srgbClr val="0E5C63"/>
                </a:solidFill>
                <a:latin typeface="Times New Roman"/>
              </a:rPr>
              <a:t>Bài toán: homestay quản lý phòng bằng trí nhớ</a:t>
            </a:r>
          </a:p>
        </p:txBody>
      </p:sp>
      <p:sp>
        <p:nvSpPr>
          <p:cNvPr id="4" name="TextBox 3"/>
          <p:cNvSpPr txBox="1"/>
          <p:nvPr/>
        </p:nvSpPr>
        <p:spPr>
          <a:xfrm>
            <a:off x="648000" y="1584000"/>
            <a:ext cx="5220000" cy="4770001"/>
          </a:xfrm>
          <a:prstGeom prst="rect">
            <a:avLst/>
          </a:prstGeom>
          <a:noFill/>
        </p:spPr>
        <p:txBody>
          <a:bodyPr wrap="square" anchor="t">
            <a:spAutoFit/>
          </a:bodyPr>
          <a:lstStyle/>
          <a:p>
            <a:pPr marL="324000" indent="-324000">
              <a:spcAft>
                <a:spcPts val="1600"/>
              </a:spcAft>
            </a:pPr>
            <a:r>
              <a:rPr sz="2800" b="0" i="0">
                <a:solidFill>
                  <a:srgbClr val="1A1A17"/>
                </a:solidFill>
                <a:latin typeface="Times New Roman"/>
              </a:rPr>
              <a:t>▪  Đặt phòng đến từ nhiều kênh tin nhắn khác nhau</a:t>
            </a:r>
          </a:p>
          <a:p>
            <a:pPr marL="324000" indent="-324000">
              <a:spcAft>
                <a:spcPts val="1600"/>
              </a:spcAft>
            </a:pPr>
            <a:r>
              <a:rPr sz="2800" b="0" i="0">
                <a:solidFill>
                  <a:srgbClr val="1A1A17"/>
                </a:solidFill>
                <a:latin typeface="Times New Roman"/>
              </a:rPr>
              <a:t>▪  Không có nơi nào cho biết một ngày còn bao nhiêu phòng</a:t>
            </a:r>
          </a:p>
          <a:p>
            <a:pPr marL="324000" indent="-324000">
              <a:spcAft>
                <a:spcPts val="1600"/>
              </a:spcAft>
            </a:pPr>
            <a:r>
              <a:rPr sz="2800" b="0" i="0">
                <a:solidFill>
                  <a:srgbClr val="1A1A17"/>
                </a:solidFill>
                <a:latin typeface="Times New Roman"/>
              </a:rPr>
              <a:t>▪  Sàn trung gian thu 15–20% mỗi đơn</a:t>
            </a:r>
          </a:p>
        </p:txBody>
      </p:sp>
      <p:pic>
        <p:nvPicPr>
          <p:cNvPr id="5" name="Picture 4" descr="hinh-1-2-quy-trinh-thu-cong.png"/>
          <p:cNvPicPr>
            <a:picLocks noChangeAspect="1"/>
          </p:cNvPicPr>
          <p:nvPr/>
        </p:nvPicPr>
        <p:blipFill>
          <a:blip r:embed="rId2"/>
          <a:stretch>
            <a:fillRect/>
          </a:stretch>
        </p:blipFill>
        <p:spPr>
          <a:xfrm>
            <a:off x="6120000" y="2664840"/>
            <a:ext cx="5472000" cy="260832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BF9F6"/>
        </a:solidFill>
        <a:effectLst/>
      </p:bgPr>
    </p:bg>
    <p:spTree>
      <p:nvGrpSpPr>
        <p:cNvPr id="1" name=""/>
        <p:cNvGrpSpPr/>
        <p:nvPr/>
      </p:nvGrpSpPr>
      <p:grpSpPr/>
      <p:sp>
        <p:nvSpPr>
          <p:cNvPr id="2" name="Rectangle 1"/>
          <p:cNvSpPr/>
          <p:nvPr/>
        </p:nvSpPr>
        <p:spPr>
          <a:xfrm>
            <a:off x="0" y="0"/>
            <a:ext cx="12193200" cy="144000"/>
          </a:xfrm>
          <a:prstGeom prst="rect">
            <a:avLst/>
          </a:prstGeom>
          <a:solidFill>
            <a:srgbClr val="0E5C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8000" y="396000"/>
            <a:ext cx="10897200" cy="936000"/>
          </a:xfrm>
          <a:prstGeom prst="rect">
            <a:avLst/>
          </a:prstGeom>
          <a:noFill/>
        </p:spPr>
        <p:txBody>
          <a:bodyPr wrap="square" anchor="t">
            <a:spAutoFit/>
          </a:bodyPr>
          <a:lstStyle/>
          <a:p>
            <a:r>
              <a:rPr sz="3600" b="1" i="0">
                <a:solidFill>
                  <a:srgbClr val="0E5C63"/>
                </a:solidFill>
                <a:latin typeface="Times New Roman"/>
              </a:rPr>
              <a:t>Bài toán cốt lõi: không được bán trùng phòng</a:t>
            </a:r>
          </a:p>
        </p:txBody>
      </p:sp>
      <p:sp>
        <p:nvSpPr>
          <p:cNvPr id="4" name="TextBox 3"/>
          <p:cNvSpPr txBox="1"/>
          <p:nvPr/>
        </p:nvSpPr>
        <p:spPr>
          <a:xfrm>
            <a:off x="648000" y="1584000"/>
            <a:ext cx="10897200" cy="4770001"/>
          </a:xfrm>
          <a:prstGeom prst="rect">
            <a:avLst/>
          </a:prstGeom>
          <a:noFill/>
        </p:spPr>
        <p:txBody>
          <a:bodyPr wrap="square" anchor="t">
            <a:spAutoFit/>
          </a:bodyPr>
          <a:lstStyle/>
          <a:p>
            <a:pPr marL="324000" indent="-324000">
              <a:spcAft>
                <a:spcPts val="1600"/>
              </a:spcAft>
            </a:pPr>
            <a:r>
              <a:rPr sz="3200" b="0" i="0">
                <a:solidFill>
                  <a:srgbClr val="1A1A17"/>
                </a:solidFill>
                <a:latin typeface="Times New Roman"/>
              </a:rPr>
              <a:t>▪  Hai khách liên hệ gần như cùng lúc</a:t>
            </a:r>
          </a:p>
          <a:p>
            <a:pPr marL="324000" indent="-324000">
              <a:spcAft>
                <a:spcPts val="1600"/>
              </a:spcAft>
            </a:pPr>
            <a:r>
              <a:rPr sz="3200" b="0" i="0">
                <a:solidFill>
                  <a:srgbClr val="1A1A17"/>
                </a:solidFill>
                <a:latin typeface="Times New Roman"/>
              </a:rPr>
              <a:t>▪  Chủ nhà trả lời còn phòng cho cả hai</a:t>
            </a:r>
          </a:p>
          <a:p>
            <a:pPr marL="324000" indent="-324000">
              <a:spcAft>
                <a:spcPts val="1600"/>
              </a:spcAft>
            </a:pPr>
            <a:r>
              <a:rPr sz="3200" b="0" i="0">
                <a:solidFill>
                  <a:srgbClr val="1A1A17"/>
                </a:solidFill>
                <a:latin typeface="Times New Roman"/>
              </a:rPr>
              <a:t>▪  Sai sót chỉ lộ ra vào ngày nhận phòng</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BF9F6"/>
        </a:solidFill>
        <a:effectLst/>
      </p:bgPr>
    </p:bg>
    <p:spTree>
      <p:nvGrpSpPr>
        <p:cNvPr id="1" name=""/>
        <p:cNvGrpSpPr/>
        <p:nvPr/>
      </p:nvGrpSpPr>
      <p:grpSpPr/>
      <p:sp>
        <p:nvSpPr>
          <p:cNvPr id="2" name="Rectangle 1"/>
          <p:cNvSpPr/>
          <p:nvPr/>
        </p:nvSpPr>
        <p:spPr>
          <a:xfrm>
            <a:off x="0" y="0"/>
            <a:ext cx="12193200" cy="144000"/>
          </a:xfrm>
          <a:prstGeom prst="rect">
            <a:avLst/>
          </a:prstGeom>
          <a:solidFill>
            <a:srgbClr val="0E5C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8000" y="396000"/>
            <a:ext cx="10897200" cy="936000"/>
          </a:xfrm>
          <a:prstGeom prst="rect">
            <a:avLst/>
          </a:prstGeom>
          <a:noFill/>
        </p:spPr>
        <p:txBody>
          <a:bodyPr wrap="square" anchor="t">
            <a:spAutoFit/>
          </a:bodyPr>
          <a:lstStyle/>
          <a:p>
            <a:r>
              <a:rPr sz="4400" b="1" i="0">
                <a:solidFill>
                  <a:srgbClr val="0E5C63"/>
                </a:solidFill>
                <a:latin typeface="Times New Roman"/>
              </a:rPr>
              <a:t>Quy ước nửa mở cho khoảng ngày</a:t>
            </a:r>
          </a:p>
        </p:txBody>
      </p:sp>
      <p:sp>
        <p:nvSpPr>
          <p:cNvPr id="4" name="TextBox 3"/>
          <p:cNvSpPr txBox="1"/>
          <p:nvPr/>
        </p:nvSpPr>
        <p:spPr>
          <a:xfrm>
            <a:off x="648000" y="1584000"/>
            <a:ext cx="5220000" cy="4770001"/>
          </a:xfrm>
          <a:prstGeom prst="rect">
            <a:avLst/>
          </a:prstGeom>
          <a:noFill/>
        </p:spPr>
        <p:txBody>
          <a:bodyPr wrap="square" anchor="t">
            <a:spAutoFit/>
          </a:bodyPr>
          <a:lstStyle/>
          <a:p>
            <a:pPr marL="324000" indent="-324000">
              <a:spcAft>
                <a:spcPts val="1600"/>
              </a:spcAft>
            </a:pPr>
            <a:r>
              <a:rPr sz="2800" b="0" i="0">
                <a:solidFill>
                  <a:srgbClr val="1A1A17"/>
                </a:solidFill>
                <a:latin typeface="Times New Roman"/>
              </a:rPr>
              <a:t>▪  Trả phòng 10/03 và nhận phòng 10/03 KHÔNG chồng lấn</a:t>
            </a:r>
          </a:p>
          <a:p>
            <a:pPr marL="324000" indent="-324000">
              <a:spcAft>
                <a:spcPts val="1600"/>
              </a:spcAft>
            </a:pPr>
            <a:r>
              <a:rPr sz="2800" b="0" i="0">
                <a:solidFill>
                  <a:srgbClr val="1A1A17"/>
                </a:solidFill>
                <a:latin typeface="Times New Roman"/>
              </a:rPr>
              <a:t>▪  Viết là [nhận, trả) — chứa ngày đầu, không chứa ngày cuối</a:t>
            </a:r>
          </a:p>
          <a:p>
            <a:pPr marL="324000" indent="-324000">
              <a:spcAft>
                <a:spcPts val="1600"/>
              </a:spcAft>
            </a:pPr>
            <a:r>
              <a:rPr sz="2800" b="0" i="0">
                <a:solidFill>
                  <a:srgbClr val="1A1A17"/>
                </a:solidFill>
                <a:latin typeface="Times New Roman"/>
              </a:rPr>
              <a:t>▪  Sai quy ước này là mất một đêm bán được của mỗi phòng</a:t>
            </a:r>
          </a:p>
        </p:txBody>
      </p:sp>
      <p:pic>
        <p:nvPicPr>
          <p:cNvPr id="5" name="Picture 4" descr="hinh-1-1-khoang-nua-mo.png"/>
          <p:cNvPicPr>
            <a:picLocks noChangeAspect="1"/>
          </p:cNvPicPr>
          <p:nvPr/>
        </p:nvPicPr>
        <p:blipFill>
          <a:blip r:embed="rId2"/>
          <a:stretch>
            <a:fillRect/>
          </a:stretch>
        </p:blipFill>
        <p:spPr>
          <a:xfrm>
            <a:off x="6379436" y="1584000"/>
            <a:ext cx="4953126" cy="47700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BF9F6"/>
        </a:solidFill>
        <a:effectLst/>
      </p:bgPr>
    </p:bg>
    <p:spTree>
      <p:nvGrpSpPr>
        <p:cNvPr id="1" name=""/>
        <p:cNvGrpSpPr/>
        <p:nvPr/>
      </p:nvGrpSpPr>
      <p:grpSpPr/>
      <p:sp>
        <p:nvSpPr>
          <p:cNvPr id="2" name="Rectangle 1"/>
          <p:cNvSpPr/>
          <p:nvPr/>
        </p:nvSpPr>
        <p:spPr>
          <a:xfrm>
            <a:off x="0" y="0"/>
            <a:ext cx="12193200" cy="144000"/>
          </a:xfrm>
          <a:prstGeom prst="rect">
            <a:avLst/>
          </a:prstGeom>
          <a:solidFill>
            <a:srgbClr val="0E5C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8000" y="396000"/>
            <a:ext cx="10897200" cy="936000"/>
          </a:xfrm>
          <a:prstGeom prst="rect">
            <a:avLst/>
          </a:prstGeom>
          <a:noFill/>
        </p:spPr>
        <p:txBody>
          <a:bodyPr wrap="square" anchor="t">
            <a:spAutoFit/>
          </a:bodyPr>
          <a:lstStyle/>
          <a:p>
            <a:r>
              <a:rPr sz="4400" b="1" i="0">
                <a:solidFill>
                  <a:srgbClr val="0E5C63"/>
                </a:solidFill>
                <a:latin typeface="Times New Roman"/>
              </a:rPr>
              <a:t>Mục tiêu và phạm vi</a:t>
            </a:r>
          </a:p>
        </p:txBody>
      </p:sp>
      <p:sp>
        <p:nvSpPr>
          <p:cNvPr id="4" name="TextBox 3"/>
          <p:cNvSpPr txBox="1"/>
          <p:nvPr/>
        </p:nvSpPr>
        <p:spPr>
          <a:xfrm>
            <a:off x="648000" y="1584000"/>
            <a:ext cx="10897200" cy="4770001"/>
          </a:xfrm>
          <a:prstGeom prst="rect">
            <a:avLst/>
          </a:prstGeom>
          <a:noFill/>
        </p:spPr>
        <p:txBody>
          <a:bodyPr wrap="square" anchor="t">
            <a:spAutoFit/>
          </a:bodyPr>
          <a:lstStyle/>
          <a:p>
            <a:pPr marL="324000" indent="-324000">
              <a:spcAft>
                <a:spcPts val="1600"/>
              </a:spcAft>
            </a:pPr>
            <a:r>
              <a:rPr sz="3200" b="0" i="0">
                <a:solidFill>
                  <a:srgbClr val="1A1A17"/>
                </a:solidFill>
                <a:latin typeface="Times New Roman"/>
              </a:rPr>
              <a:t>▪  Ba khối: trang khách, khu quản trị, giao diện lập trình ứng dụng</a:t>
            </a:r>
          </a:p>
          <a:p>
            <a:pPr marL="324000" indent="-324000">
              <a:spcAft>
                <a:spcPts val="1600"/>
              </a:spcAft>
            </a:pPr>
            <a:r>
              <a:rPr sz="3200" b="0" i="0">
                <a:solidFill>
                  <a:srgbClr val="1A1A17"/>
                </a:solidFill>
                <a:latin typeface="Times New Roman"/>
              </a:rPr>
              <a:t>▪  Đặt cọc qua mã QR, webhook tự xác nhận</a:t>
            </a:r>
          </a:p>
          <a:p>
            <a:pPr marL="324000" indent="-324000">
              <a:spcAft>
                <a:spcPts val="1600"/>
              </a:spcAft>
            </a:pPr>
            <a:r>
              <a:rPr sz="3200" b="0" i="0">
                <a:solidFill>
                  <a:srgbClr val="1A1A17"/>
                </a:solidFill>
                <a:latin typeface="Times New Roman"/>
              </a:rPr>
              <a:t>▪  Không có nhánh nào để tiền của khách biến mất im lặng</a:t>
            </a:r>
          </a:p>
          <a:p>
            <a:pPr marL="324000" indent="-324000">
              <a:spcAft>
                <a:spcPts val="1600"/>
              </a:spcAft>
            </a:pPr>
            <a:r>
              <a:rPr sz="3200" b="0" i="0">
                <a:solidFill>
                  <a:srgbClr val="1A1A17"/>
                </a:solidFill>
                <a:latin typeface="Times New Roman"/>
              </a:rPr>
              <a:t>▪  Một lệnh là đủ để chạy toàn hệ thống kèm dữ liệu mẫu</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BF9F6"/>
        </a:solidFill>
        <a:effectLst/>
      </p:bgPr>
    </p:bg>
    <p:spTree>
      <p:nvGrpSpPr>
        <p:cNvPr id="1" name=""/>
        <p:cNvGrpSpPr/>
        <p:nvPr/>
      </p:nvGrpSpPr>
      <p:grpSpPr/>
      <p:sp>
        <p:nvSpPr>
          <p:cNvPr id="2" name="Rectangle 1"/>
          <p:cNvSpPr/>
          <p:nvPr/>
        </p:nvSpPr>
        <p:spPr>
          <a:xfrm>
            <a:off x="0" y="0"/>
            <a:ext cx="12193200" cy="144000"/>
          </a:xfrm>
          <a:prstGeom prst="rect">
            <a:avLst/>
          </a:prstGeom>
          <a:solidFill>
            <a:srgbClr val="0E5C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8000" y="396000"/>
            <a:ext cx="10897200" cy="936000"/>
          </a:xfrm>
          <a:prstGeom prst="rect">
            <a:avLst/>
          </a:prstGeom>
          <a:noFill/>
        </p:spPr>
        <p:txBody>
          <a:bodyPr wrap="square" anchor="t">
            <a:spAutoFit/>
          </a:bodyPr>
          <a:lstStyle/>
          <a:p>
            <a:r>
              <a:rPr sz="4400" b="1" i="0">
                <a:solidFill>
                  <a:srgbClr val="0E5C63"/>
                </a:solidFill>
                <a:latin typeface="Times New Roman"/>
              </a:rPr>
              <a:t>Công nghệ sử dụng</a:t>
            </a:r>
          </a:p>
        </p:txBody>
      </p:sp>
      <p:sp>
        <p:nvSpPr>
          <p:cNvPr id="4" name="TextBox 3"/>
          <p:cNvSpPr txBox="1"/>
          <p:nvPr/>
        </p:nvSpPr>
        <p:spPr>
          <a:xfrm>
            <a:off x="648000" y="1584000"/>
            <a:ext cx="10897200" cy="4770001"/>
          </a:xfrm>
          <a:prstGeom prst="rect">
            <a:avLst/>
          </a:prstGeom>
          <a:noFill/>
        </p:spPr>
        <p:txBody>
          <a:bodyPr wrap="square" anchor="t">
            <a:spAutoFit/>
          </a:bodyPr>
          <a:lstStyle/>
          <a:p>
            <a:pPr marL="324000" indent="-324000">
              <a:spcAft>
                <a:spcPts val="1600"/>
              </a:spcAft>
            </a:pPr>
            <a:r>
              <a:rPr sz="3200" b="0" i="0">
                <a:solidFill>
                  <a:srgbClr val="1A1A17"/>
                </a:solidFill>
                <a:latin typeface="Times New Roman"/>
              </a:rPr>
              <a:t>▪  Máy chủ: Java 21, Spring Boot 3.5</a:t>
            </a:r>
          </a:p>
          <a:p>
            <a:pPr marL="324000" indent="-324000">
              <a:spcAft>
                <a:spcPts val="1600"/>
              </a:spcAft>
            </a:pPr>
            <a:r>
              <a:rPr sz="3200" b="0" i="0">
                <a:solidFill>
                  <a:srgbClr val="1A1A17"/>
                </a:solidFill>
                <a:latin typeface="Times New Roman"/>
              </a:rPr>
              <a:t>▪  Giao diện: Angular 21, Tailwind CSS v4</a:t>
            </a:r>
          </a:p>
          <a:p>
            <a:pPr marL="324000" indent="-324000">
              <a:spcAft>
                <a:spcPts val="1600"/>
              </a:spcAft>
            </a:pPr>
            <a:r>
              <a:rPr sz="3200" b="0" i="0">
                <a:solidFill>
                  <a:srgbClr val="1A1A17"/>
                </a:solidFill>
                <a:latin typeface="Times New Roman"/>
              </a:rPr>
              <a:t>▪  Cơ sở dữ liệu: PostgreSQL 16 — chọn vì một lý do rất cụ thể</a:t>
            </a:r>
          </a:p>
          <a:p>
            <a:pPr marL="324000" indent="-324000">
              <a:spcAft>
                <a:spcPts val="1600"/>
              </a:spcAft>
            </a:pPr>
            <a:r>
              <a:rPr sz="3200" b="0" i="0">
                <a:solidFill>
                  <a:srgbClr val="1A1A17"/>
                </a:solidFill>
                <a:latin typeface="Times New Roman"/>
              </a:rPr>
              <a:t>▪  Đóng gói: Docker Compose, bốn dịch vụ</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BF9F6"/>
        </a:solidFill>
        <a:effectLst/>
      </p:bgPr>
    </p:bg>
    <p:spTree>
      <p:nvGrpSpPr>
        <p:cNvPr id="1" name=""/>
        <p:cNvGrpSpPr/>
        <p:nvPr/>
      </p:nvGrpSpPr>
      <p:grpSpPr/>
      <p:sp>
        <p:nvSpPr>
          <p:cNvPr id="2" name="Rectangle 1"/>
          <p:cNvSpPr/>
          <p:nvPr/>
        </p:nvSpPr>
        <p:spPr>
          <a:xfrm>
            <a:off x="0" y="0"/>
            <a:ext cx="12193200" cy="144000"/>
          </a:xfrm>
          <a:prstGeom prst="rect">
            <a:avLst/>
          </a:prstGeom>
          <a:solidFill>
            <a:srgbClr val="0E5C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8000" y="396000"/>
            <a:ext cx="10897200" cy="936000"/>
          </a:xfrm>
          <a:prstGeom prst="rect">
            <a:avLst/>
          </a:prstGeom>
          <a:noFill/>
        </p:spPr>
        <p:txBody>
          <a:bodyPr wrap="square" anchor="t">
            <a:spAutoFit/>
          </a:bodyPr>
          <a:lstStyle/>
          <a:p>
            <a:r>
              <a:rPr sz="4400" b="1" i="0">
                <a:solidFill>
                  <a:srgbClr val="0E5C63"/>
                </a:solidFill>
                <a:latin typeface="Times New Roman"/>
              </a:rPr>
              <a:t>Kiến trúc tổng thể</a:t>
            </a:r>
          </a:p>
        </p:txBody>
      </p:sp>
      <p:pic>
        <p:nvPicPr>
          <p:cNvPr id="4" name="Picture 3" descr="hinh-2-1-kien-truc-tong-the.png"/>
          <p:cNvPicPr>
            <a:picLocks noChangeAspect="1"/>
          </p:cNvPicPr>
          <p:nvPr/>
        </p:nvPicPr>
        <p:blipFill>
          <a:blip r:embed="rId2"/>
          <a:stretch>
            <a:fillRect/>
          </a:stretch>
        </p:blipFill>
        <p:spPr>
          <a:xfrm>
            <a:off x="1080000" y="2858618"/>
            <a:ext cx="10033200" cy="2220763"/>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BF9F6"/>
        </a:solidFill>
        <a:effectLst/>
      </p:bgPr>
    </p:bg>
    <p:spTree>
      <p:nvGrpSpPr>
        <p:cNvPr id="1" name=""/>
        <p:cNvGrpSpPr/>
        <p:nvPr/>
      </p:nvGrpSpPr>
      <p:grpSpPr/>
      <p:sp>
        <p:nvSpPr>
          <p:cNvPr id="2" name="Rectangle 1"/>
          <p:cNvSpPr/>
          <p:nvPr/>
        </p:nvSpPr>
        <p:spPr>
          <a:xfrm>
            <a:off x="0" y="0"/>
            <a:ext cx="12193200" cy="144000"/>
          </a:xfrm>
          <a:prstGeom prst="rect">
            <a:avLst/>
          </a:prstGeom>
          <a:solidFill>
            <a:srgbClr val="0E5C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8000" y="396000"/>
            <a:ext cx="10897200" cy="936000"/>
          </a:xfrm>
          <a:prstGeom prst="rect">
            <a:avLst/>
          </a:prstGeom>
          <a:noFill/>
        </p:spPr>
        <p:txBody>
          <a:bodyPr wrap="square" anchor="t">
            <a:spAutoFit/>
          </a:bodyPr>
          <a:lstStyle/>
          <a:p>
            <a:r>
              <a:rPr sz="4000" b="1" i="0">
                <a:solidFill>
                  <a:srgbClr val="0E5C63"/>
                </a:solidFill>
                <a:latin typeface="Times New Roman"/>
              </a:rPr>
              <a:t>Vì sao kiểm tra ở tầng ứng dụng KHÔNG đủ</a:t>
            </a:r>
          </a:p>
        </p:txBody>
      </p:sp>
      <p:sp>
        <p:nvSpPr>
          <p:cNvPr id="4" name="TextBox 3"/>
          <p:cNvSpPr txBox="1"/>
          <p:nvPr/>
        </p:nvSpPr>
        <p:spPr>
          <a:xfrm>
            <a:off x="648000" y="1584000"/>
            <a:ext cx="5220000" cy="4770001"/>
          </a:xfrm>
          <a:prstGeom prst="rect">
            <a:avLst/>
          </a:prstGeom>
          <a:noFill/>
        </p:spPr>
        <p:txBody>
          <a:bodyPr wrap="square" anchor="t">
            <a:spAutoFit/>
          </a:bodyPr>
          <a:lstStyle/>
          <a:p>
            <a:pPr marL="324000" indent="-324000">
              <a:spcAft>
                <a:spcPts val="1600"/>
              </a:spcAft>
            </a:pPr>
            <a:r>
              <a:rPr sz="2800" b="0" i="0">
                <a:solidFill>
                  <a:srgbClr val="1A1A17"/>
                </a:solidFill>
                <a:latin typeface="Times New Roman"/>
              </a:rPr>
              <a:t>▪  Luồng 1 đọc: còn phòng → Luồng 2 đọc: còn phòng</a:t>
            </a:r>
          </a:p>
          <a:p>
            <a:pPr marL="324000" indent="-324000">
              <a:spcAft>
                <a:spcPts val="1600"/>
              </a:spcAft>
            </a:pPr>
            <a:r>
              <a:rPr sz="2800" b="0" i="0">
                <a:solidFill>
                  <a:srgbClr val="1A1A17"/>
                </a:solidFill>
                <a:latin typeface="Times New Roman"/>
              </a:rPr>
              <a:t>▪  Cả hai cùng ghi → bán trùng</a:t>
            </a:r>
          </a:p>
          <a:p>
            <a:pPr marL="324000" indent="-324000">
              <a:spcAft>
                <a:spcPts val="1600"/>
              </a:spcAft>
            </a:pPr>
            <a:r>
              <a:rPr sz="2800" b="0" i="0">
                <a:solidFill>
                  <a:srgbClr val="1A1A17"/>
                </a:solidFill>
                <a:latin typeface="Times New Roman"/>
              </a:rPr>
              <a:t>▪  Mức cô lập Read Committed không ngăn được</a:t>
            </a:r>
          </a:p>
          <a:p>
            <a:pPr marL="324000" indent="-324000">
              <a:spcAft>
                <a:spcPts val="1600"/>
              </a:spcAft>
            </a:pPr>
            <a:r>
              <a:rPr sz="2800" b="0" i="0">
                <a:solidFill>
                  <a:srgbClr val="1A1A17"/>
                </a:solidFill>
                <a:latin typeface="Times New Roman"/>
              </a:rPr>
              <a:t>▪  Tài liệu PostgreSQL khuyên dùng ràng buộc toàn vẹn</a:t>
            </a:r>
          </a:p>
        </p:txBody>
      </p:sp>
      <p:pic>
        <p:nvPicPr>
          <p:cNvPr id="5" name="Picture 4" descr="hinh-2-2-tranh-chap-dat-phong.png"/>
          <p:cNvPicPr>
            <a:picLocks noChangeAspect="1"/>
          </p:cNvPicPr>
          <p:nvPr/>
        </p:nvPicPr>
        <p:blipFill>
          <a:blip r:embed="rId2"/>
          <a:stretch>
            <a:fillRect/>
          </a:stretch>
        </p:blipFill>
        <p:spPr>
          <a:xfrm>
            <a:off x="7094489" y="1584000"/>
            <a:ext cx="3523020" cy="477000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BF9F6"/>
        </a:solidFill>
        <a:effectLst/>
      </p:bgPr>
    </p:bg>
    <p:spTree>
      <p:nvGrpSpPr>
        <p:cNvPr id="1" name=""/>
        <p:cNvGrpSpPr/>
        <p:nvPr/>
      </p:nvGrpSpPr>
      <p:grpSpPr/>
      <p:sp>
        <p:nvSpPr>
          <p:cNvPr id="2" name="Rectangle 1"/>
          <p:cNvSpPr/>
          <p:nvPr/>
        </p:nvSpPr>
        <p:spPr>
          <a:xfrm>
            <a:off x="0" y="0"/>
            <a:ext cx="12193200" cy="144000"/>
          </a:xfrm>
          <a:prstGeom prst="rect">
            <a:avLst/>
          </a:prstGeom>
          <a:solidFill>
            <a:srgbClr val="0E5C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8000" y="396000"/>
            <a:ext cx="10897200" cy="936000"/>
          </a:xfrm>
          <a:prstGeom prst="rect">
            <a:avLst/>
          </a:prstGeom>
          <a:noFill/>
        </p:spPr>
        <p:txBody>
          <a:bodyPr wrap="square" anchor="t">
            <a:spAutoFit/>
          </a:bodyPr>
          <a:lstStyle/>
          <a:p>
            <a:r>
              <a:rPr sz="4000" b="1" i="0">
                <a:solidFill>
                  <a:srgbClr val="0E5C63"/>
                </a:solidFill>
                <a:latin typeface="Times New Roman"/>
              </a:rPr>
              <a:t>Giải pháp: để cơ sở dữ liệu quyết định</a:t>
            </a:r>
          </a:p>
        </p:txBody>
      </p:sp>
      <p:sp>
        <p:nvSpPr>
          <p:cNvPr id="4" name="TextBox 3"/>
          <p:cNvSpPr txBox="1"/>
          <p:nvPr/>
        </p:nvSpPr>
        <p:spPr>
          <a:xfrm>
            <a:off x="648000" y="1584000"/>
            <a:ext cx="10897200" cy="4770001"/>
          </a:xfrm>
          <a:prstGeom prst="rect">
            <a:avLst/>
          </a:prstGeom>
          <a:noFill/>
        </p:spPr>
        <p:txBody>
          <a:bodyPr wrap="square" anchor="t">
            <a:spAutoFit/>
          </a:bodyPr>
          <a:lstStyle/>
          <a:p>
            <a:pPr marL="324000" indent="-324000">
              <a:spcAft>
                <a:spcPts val="1600"/>
              </a:spcAft>
            </a:pPr>
            <a:r>
              <a:rPr sz="3200" b="0" i="0">
                <a:solidFill>
                  <a:srgbClr val="1A1A17"/>
                </a:solidFill>
                <a:latin typeface="Times New Roman"/>
              </a:rPr>
              <a:t>▪  EXCLUDE USING gist (room_id WITH =, stay WITH &amp;&amp;)</a:t>
            </a:r>
          </a:p>
          <a:p>
            <a:pPr marL="324000" indent="-324000">
              <a:spcAft>
                <a:spcPts val="1600"/>
              </a:spcAft>
            </a:pPr>
            <a:r>
              <a:rPr sz="3200" b="0" i="0">
                <a:solidFill>
                  <a:srgbClr val="1A1A17"/>
                </a:solidFill>
                <a:latin typeface="Times New Roman"/>
              </a:rPr>
              <a:t>▪  Cột stay sinh tự động: daterange(nhận, trả, '[)')</a:t>
            </a:r>
          </a:p>
          <a:p>
            <a:pPr marL="324000" indent="-324000">
              <a:spcAft>
                <a:spcPts val="1600"/>
              </a:spcAft>
            </a:pPr>
            <a:r>
              <a:rPr sz="3200" b="0" i="0">
                <a:solidFill>
                  <a:srgbClr val="1A1A17"/>
                </a:solidFill>
                <a:latin typeface="Times New Roman"/>
              </a:rPr>
              <a:t>▪  Luồng thứ hai nhận lỗi 23P01 và bị bác — ngay trong giao dịch</a:t>
            </a:r>
          </a:p>
          <a:p>
            <a:pPr marL="324000" indent="-324000">
              <a:spcAft>
                <a:spcPts val="1600"/>
              </a:spcAft>
            </a:pPr>
            <a:r>
              <a:rPr sz="3200" b="0" i="0">
                <a:solidFill>
                  <a:srgbClr val="1A1A17"/>
                </a:solidFill>
                <a:latin typeface="Times New Roman"/>
              </a:rPr>
              <a:t>▪  MySQL không có daterange lẫn ràng buộc loại trừ</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BF9F6"/>
        </a:solidFill>
        <a:effectLst/>
      </p:bgPr>
    </p:bg>
    <p:spTree>
      <p:nvGrpSpPr>
        <p:cNvPr id="1" name=""/>
        <p:cNvGrpSpPr/>
        <p:nvPr/>
      </p:nvGrpSpPr>
      <p:grpSpPr/>
      <p:sp>
        <p:nvSpPr>
          <p:cNvPr id="2" name="Rectangle 1"/>
          <p:cNvSpPr/>
          <p:nvPr/>
        </p:nvSpPr>
        <p:spPr>
          <a:xfrm>
            <a:off x="0" y="0"/>
            <a:ext cx="12193200" cy="144000"/>
          </a:xfrm>
          <a:prstGeom prst="rect">
            <a:avLst/>
          </a:prstGeom>
          <a:solidFill>
            <a:srgbClr val="0E5C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8000" y="396000"/>
            <a:ext cx="10897200" cy="936000"/>
          </a:xfrm>
          <a:prstGeom prst="rect">
            <a:avLst/>
          </a:prstGeom>
          <a:noFill/>
        </p:spPr>
        <p:txBody>
          <a:bodyPr wrap="square" anchor="t">
            <a:spAutoFit/>
          </a:bodyPr>
          <a:lstStyle/>
          <a:p>
            <a:r>
              <a:rPr sz="4000" b="1" i="0">
                <a:solidFill>
                  <a:srgbClr val="0E5C63"/>
                </a:solidFill>
                <a:latin typeface="Times New Roman"/>
              </a:rPr>
              <a:t>Cơ sở dữ liệu: 21 bảng, 9 migration</a:t>
            </a:r>
          </a:p>
        </p:txBody>
      </p:sp>
      <p:pic>
        <p:nvPicPr>
          <p:cNvPr id="4" name="Picture 3" descr="hinh-3-3-erd-dat-phong.png"/>
          <p:cNvPicPr>
            <a:picLocks noChangeAspect="1"/>
          </p:cNvPicPr>
          <p:nvPr/>
        </p:nvPicPr>
        <p:blipFill>
          <a:blip r:embed="rId2"/>
          <a:stretch>
            <a:fillRect/>
          </a:stretch>
        </p:blipFill>
        <p:spPr>
          <a:xfrm>
            <a:off x="3175539" y="1584000"/>
            <a:ext cx="5842121" cy="477000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BF9F6"/>
        </a:solidFill>
        <a:effectLst/>
      </p:bgPr>
    </p:bg>
    <p:spTree>
      <p:nvGrpSpPr>
        <p:cNvPr id="1" name=""/>
        <p:cNvGrpSpPr/>
        <p:nvPr/>
      </p:nvGrpSpPr>
      <p:grpSpPr/>
      <p:sp>
        <p:nvSpPr>
          <p:cNvPr id="2" name="Rectangle 1"/>
          <p:cNvSpPr/>
          <p:nvPr/>
        </p:nvSpPr>
        <p:spPr>
          <a:xfrm>
            <a:off x="0" y="0"/>
            <a:ext cx="12193200" cy="144000"/>
          </a:xfrm>
          <a:prstGeom prst="rect">
            <a:avLst/>
          </a:prstGeom>
          <a:solidFill>
            <a:srgbClr val="0E5C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8000" y="396000"/>
            <a:ext cx="10897200" cy="936000"/>
          </a:xfrm>
          <a:prstGeom prst="rect">
            <a:avLst/>
          </a:prstGeom>
          <a:noFill/>
        </p:spPr>
        <p:txBody>
          <a:bodyPr wrap="square" anchor="t">
            <a:spAutoFit/>
          </a:bodyPr>
          <a:lstStyle/>
          <a:p>
            <a:r>
              <a:rPr sz="4400" b="1" i="0">
                <a:solidFill>
                  <a:srgbClr val="0E5C63"/>
                </a:solidFill>
                <a:latin typeface="Times New Roman"/>
              </a:rPr>
              <a:t>Máy trạng thái đơn đặt phòng</a:t>
            </a:r>
          </a:p>
        </p:txBody>
      </p:sp>
      <p:pic>
        <p:nvPicPr>
          <p:cNvPr id="4" name="Picture 3" descr="hinh-3-5-trang-thai-don.png"/>
          <p:cNvPicPr>
            <a:picLocks noChangeAspect="1"/>
          </p:cNvPicPr>
          <p:nvPr/>
        </p:nvPicPr>
        <p:blipFill>
          <a:blip r:embed="rId2"/>
          <a:stretch>
            <a:fillRect/>
          </a:stretch>
        </p:blipFill>
        <p:spPr>
          <a:xfrm>
            <a:off x="3337418" y="1584000"/>
            <a:ext cx="5518362" cy="4770000"/>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BF9F6"/>
        </a:solidFill>
        <a:effectLst/>
      </p:bgPr>
    </p:bg>
    <p:spTree>
      <p:nvGrpSpPr>
        <p:cNvPr id="1" name=""/>
        <p:cNvGrpSpPr/>
        <p:nvPr/>
      </p:nvGrpSpPr>
      <p:grpSpPr/>
      <p:sp>
        <p:nvSpPr>
          <p:cNvPr id="2" name="Rectangle 1"/>
          <p:cNvSpPr/>
          <p:nvPr/>
        </p:nvSpPr>
        <p:spPr>
          <a:xfrm>
            <a:off x="0" y="0"/>
            <a:ext cx="12193200" cy="144000"/>
          </a:xfrm>
          <a:prstGeom prst="rect">
            <a:avLst/>
          </a:prstGeom>
          <a:solidFill>
            <a:srgbClr val="0E5C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8000" y="396000"/>
            <a:ext cx="10897200" cy="936000"/>
          </a:xfrm>
          <a:prstGeom prst="rect">
            <a:avLst/>
          </a:prstGeom>
          <a:noFill/>
        </p:spPr>
        <p:txBody>
          <a:bodyPr wrap="square" anchor="t">
            <a:spAutoFit/>
          </a:bodyPr>
          <a:lstStyle/>
          <a:p>
            <a:r>
              <a:rPr sz="4400" b="1" i="0">
                <a:solidFill>
                  <a:srgbClr val="0E5C63"/>
                </a:solidFill>
                <a:latin typeface="Times New Roman"/>
              </a:rPr>
              <a:t>Thanh toán: mã QR và webhook</a:t>
            </a:r>
          </a:p>
        </p:txBody>
      </p:sp>
      <p:pic>
        <p:nvPicPr>
          <p:cNvPr id="4" name="Picture 3" descr="hinh-3-7-tuan-tu-thanh-toan.png"/>
          <p:cNvPicPr>
            <a:picLocks noChangeAspect="1"/>
          </p:cNvPicPr>
          <p:nvPr/>
        </p:nvPicPr>
        <p:blipFill>
          <a:blip r:embed="rId2"/>
          <a:stretch>
            <a:fillRect/>
          </a:stretch>
        </p:blipFill>
        <p:spPr>
          <a:xfrm>
            <a:off x="2160027" y="1584000"/>
            <a:ext cx="7873145" cy="4770000"/>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BF9F6"/>
        </a:solidFill>
        <a:effectLst/>
      </p:bgPr>
    </p:bg>
    <p:spTree>
      <p:nvGrpSpPr>
        <p:cNvPr id="1" name=""/>
        <p:cNvGrpSpPr/>
        <p:nvPr/>
      </p:nvGrpSpPr>
      <p:grpSpPr/>
      <p:sp>
        <p:nvSpPr>
          <p:cNvPr id="2" name="Rectangle 1"/>
          <p:cNvSpPr/>
          <p:nvPr/>
        </p:nvSpPr>
        <p:spPr>
          <a:xfrm>
            <a:off x="0" y="0"/>
            <a:ext cx="12193200" cy="144000"/>
          </a:xfrm>
          <a:prstGeom prst="rect">
            <a:avLst/>
          </a:prstGeom>
          <a:solidFill>
            <a:srgbClr val="0E5C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8000" y="396000"/>
            <a:ext cx="10897200" cy="936000"/>
          </a:xfrm>
          <a:prstGeom prst="rect">
            <a:avLst/>
          </a:prstGeom>
          <a:noFill/>
        </p:spPr>
        <p:txBody>
          <a:bodyPr wrap="square" anchor="t">
            <a:spAutoFit/>
          </a:bodyPr>
          <a:lstStyle/>
          <a:p>
            <a:r>
              <a:rPr sz="4000" b="1" i="0">
                <a:solidFill>
                  <a:srgbClr val="0E5C63"/>
                </a:solidFill>
                <a:latin typeface="Times New Roman"/>
              </a:rPr>
              <a:t>Giao diện khách: ba bước đặt phòng</a:t>
            </a:r>
          </a:p>
        </p:txBody>
      </p:sp>
      <p:pic>
        <p:nvPicPr>
          <p:cNvPr id="4" name="Picture 3" descr="hinh-3-11-ba-buoc-dat-phong.png"/>
          <p:cNvPicPr>
            <a:picLocks noChangeAspect="1"/>
          </p:cNvPicPr>
          <p:nvPr/>
        </p:nvPicPr>
        <p:blipFill>
          <a:blip r:embed="rId2"/>
          <a:stretch>
            <a:fillRect/>
          </a:stretch>
        </p:blipFill>
        <p:spPr>
          <a:xfrm>
            <a:off x="1080000" y="2735752"/>
            <a:ext cx="10033200" cy="2466495"/>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BF9F6"/>
        </a:solidFill>
        <a:effectLst/>
      </p:bgPr>
    </p:bg>
    <p:spTree>
      <p:nvGrpSpPr>
        <p:cNvPr id="1" name=""/>
        <p:cNvGrpSpPr/>
        <p:nvPr/>
      </p:nvGrpSpPr>
      <p:grpSpPr/>
      <p:sp>
        <p:nvSpPr>
          <p:cNvPr id="2" name="Rectangle 1"/>
          <p:cNvSpPr/>
          <p:nvPr/>
        </p:nvSpPr>
        <p:spPr>
          <a:xfrm>
            <a:off x="0" y="0"/>
            <a:ext cx="12193200" cy="144000"/>
          </a:xfrm>
          <a:prstGeom prst="rect">
            <a:avLst/>
          </a:prstGeom>
          <a:solidFill>
            <a:srgbClr val="0E5C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8000" y="396000"/>
            <a:ext cx="10897200" cy="936000"/>
          </a:xfrm>
          <a:prstGeom prst="rect">
            <a:avLst/>
          </a:prstGeom>
          <a:noFill/>
        </p:spPr>
        <p:txBody>
          <a:bodyPr wrap="square" anchor="t">
            <a:spAutoFit/>
          </a:bodyPr>
          <a:lstStyle/>
          <a:p>
            <a:r>
              <a:rPr sz="4400" b="1" i="0">
                <a:solidFill>
                  <a:srgbClr val="0E5C63"/>
                </a:solidFill>
                <a:latin typeface="Times New Roman"/>
              </a:rPr>
              <a:t>Khu quản trị: 11 màn hình</a:t>
            </a:r>
          </a:p>
        </p:txBody>
      </p:sp>
      <p:pic>
        <p:nvPicPr>
          <p:cNvPr id="4" name="Picture 3" descr="hinh-3-13-dashboard.png"/>
          <p:cNvPicPr>
            <a:picLocks noChangeAspect="1"/>
          </p:cNvPicPr>
          <p:nvPr/>
        </p:nvPicPr>
        <p:blipFill>
          <a:blip r:embed="rId2"/>
          <a:stretch>
            <a:fillRect/>
          </a:stretch>
        </p:blipFill>
        <p:spPr>
          <a:xfrm>
            <a:off x="3622248" y="1584000"/>
            <a:ext cx="4948703" cy="4770000"/>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BF9F6"/>
        </a:solidFill>
        <a:effectLst/>
      </p:bgPr>
    </p:bg>
    <p:spTree>
      <p:nvGrpSpPr>
        <p:cNvPr id="1" name=""/>
        <p:cNvGrpSpPr/>
        <p:nvPr/>
      </p:nvGrpSpPr>
      <p:grpSpPr/>
      <p:sp>
        <p:nvSpPr>
          <p:cNvPr id="2" name="Rectangle 1"/>
          <p:cNvSpPr/>
          <p:nvPr/>
        </p:nvSpPr>
        <p:spPr>
          <a:xfrm>
            <a:off x="0" y="0"/>
            <a:ext cx="12193200" cy="144000"/>
          </a:xfrm>
          <a:prstGeom prst="rect">
            <a:avLst/>
          </a:prstGeom>
          <a:solidFill>
            <a:srgbClr val="0E5C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8000" y="396000"/>
            <a:ext cx="10897200" cy="936000"/>
          </a:xfrm>
          <a:prstGeom prst="rect">
            <a:avLst/>
          </a:prstGeom>
          <a:noFill/>
        </p:spPr>
        <p:txBody>
          <a:bodyPr wrap="square" anchor="t">
            <a:spAutoFit/>
          </a:bodyPr>
          <a:lstStyle/>
          <a:p>
            <a:r>
              <a:rPr sz="4400" b="1" i="0">
                <a:solidFill>
                  <a:srgbClr val="0E5C63"/>
                </a:solidFill>
                <a:latin typeface="Times New Roman"/>
              </a:rPr>
              <a:t>Kết quả kiểm thử</a:t>
            </a:r>
          </a:p>
        </p:txBody>
      </p:sp>
      <p:sp>
        <p:nvSpPr>
          <p:cNvPr id="4" name="TextBox 3"/>
          <p:cNvSpPr txBox="1"/>
          <p:nvPr/>
        </p:nvSpPr>
        <p:spPr>
          <a:xfrm>
            <a:off x="648000" y="1584000"/>
            <a:ext cx="10897200" cy="4770001"/>
          </a:xfrm>
          <a:prstGeom prst="rect">
            <a:avLst/>
          </a:prstGeom>
          <a:noFill/>
        </p:spPr>
        <p:txBody>
          <a:bodyPr wrap="square" anchor="t">
            <a:spAutoFit/>
          </a:bodyPr>
          <a:lstStyle/>
          <a:p>
            <a:pPr marL="324000" indent="-324000">
              <a:spcAft>
                <a:spcPts val="1600"/>
              </a:spcAft>
            </a:pPr>
            <a:r>
              <a:rPr sz="3200" b="0" i="0">
                <a:solidFill>
                  <a:srgbClr val="1A1A17"/>
                </a:solidFill>
                <a:latin typeface="Times New Roman"/>
              </a:rPr>
              <a:t>▪  136 ca kiểm thử trong 19 lớp</a:t>
            </a:r>
          </a:p>
          <a:p>
            <a:pPr marL="324000" indent="-324000">
              <a:spcAft>
                <a:spcPts val="1600"/>
              </a:spcAft>
            </a:pPr>
            <a:r>
              <a:rPr sz="3200" b="0" i="0">
                <a:solidFill>
                  <a:srgbClr val="1A1A17"/>
                </a:solidFill>
                <a:latin typeface="Times New Roman"/>
              </a:rPr>
              <a:t>▪  Kiểm thử đa luồng với PostgreSQL thật, không giả lập</a:t>
            </a:r>
          </a:p>
          <a:p>
            <a:pPr marL="324000" indent="-324000">
              <a:spcAft>
                <a:spcPts val="1600"/>
              </a:spcAft>
            </a:pPr>
            <a:r>
              <a:rPr sz="3200" b="0" i="0">
                <a:solidFill>
                  <a:srgbClr val="1A1A17"/>
                </a:solidFill>
                <a:latin typeface="Times New Roman"/>
              </a:rPr>
              <a:t>▪  11 lỗi thực tế đã tìm ra và khắc phục</a:t>
            </a:r>
          </a:p>
          <a:p>
            <a:pPr marL="324000" indent="-324000">
              <a:spcAft>
                <a:spcPts val="1600"/>
              </a:spcAft>
            </a:pPr>
            <a:r>
              <a:rPr sz="3200" b="0" i="0">
                <a:solidFill>
                  <a:srgbClr val="1A1A17"/>
                </a:solidFill>
                <a:latin typeface="Times New Roman"/>
              </a:rPr>
              <a:t>▪  Ma trận phân quyền: 30 tiền tố đường dẫn đều được khai</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BF9F6"/>
        </a:solidFill>
        <a:effectLst/>
      </p:bgPr>
    </p:bg>
    <p:spTree>
      <p:nvGrpSpPr>
        <p:cNvPr id="1" name=""/>
        <p:cNvGrpSpPr/>
        <p:nvPr/>
      </p:nvGrpSpPr>
      <p:grpSpPr/>
      <p:sp>
        <p:nvSpPr>
          <p:cNvPr id="2" name="Rectangle 1"/>
          <p:cNvSpPr/>
          <p:nvPr/>
        </p:nvSpPr>
        <p:spPr>
          <a:xfrm>
            <a:off x="0" y="0"/>
            <a:ext cx="12193200" cy="144000"/>
          </a:xfrm>
          <a:prstGeom prst="rect">
            <a:avLst/>
          </a:prstGeom>
          <a:solidFill>
            <a:srgbClr val="0E5C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8000" y="396000"/>
            <a:ext cx="10897200" cy="936000"/>
          </a:xfrm>
          <a:prstGeom prst="rect">
            <a:avLst/>
          </a:prstGeom>
          <a:noFill/>
        </p:spPr>
        <p:txBody>
          <a:bodyPr wrap="square" anchor="t">
            <a:spAutoFit/>
          </a:bodyPr>
          <a:lstStyle/>
          <a:p>
            <a:r>
              <a:rPr sz="4400" b="1" i="0">
                <a:solidFill>
                  <a:srgbClr val="0E5C63"/>
                </a:solidFill>
                <a:latin typeface="Times New Roman"/>
              </a:rPr>
              <a:t>Khả năng tiếp cận và triển khai</a:t>
            </a:r>
          </a:p>
        </p:txBody>
      </p:sp>
      <p:sp>
        <p:nvSpPr>
          <p:cNvPr id="4" name="TextBox 3"/>
          <p:cNvSpPr txBox="1"/>
          <p:nvPr/>
        </p:nvSpPr>
        <p:spPr>
          <a:xfrm>
            <a:off x="648000" y="1584000"/>
            <a:ext cx="5220000" cy="4770001"/>
          </a:xfrm>
          <a:prstGeom prst="rect">
            <a:avLst/>
          </a:prstGeom>
          <a:noFill/>
        </p:spPr>
        <p:txBody>
          <a:bodyPr wrap="square" anchor="t">
            <a:spAutoFit/>
          </a:bodyPr>
          <a:lstStyle/>
          <a:p>
            <a:pPr marL="324000" indent="-324000">
              <a:spcAft>
                <a:spcPts val="1600"/>
              </a:spcAft>
            </a:pPr>
            <a:r>
              <a:rPr sz="2800" b="0" i="0">
                <a:solidFill>
                  <a:srgbClr val="1A1A17"/>
                </a:solidFill>
                <a:latin typeface="Times New Roman"/>
              </a:rPr>
              <a:t>▪  Quét 17 màn hình: 0 vi phạm WCAG 2.1 mức A và AA, 353 lần quy tắc đạt</a:t>
            </a:r>
          </a:p>
          <a:p>
            <a:pPr marL="324000" indent="-324000">
              <a:spcAft>
                <a:spcPts val="1600"/>
              </a:spcAft>
            </a:pPr>
            <a:r>
              <a:rPr sz="2800" b="0" i="0">
                <a:solidFill>
                  <a:srgbClr val="1A1A17"/>
                </a:solidFill>
                <a:latin typeface="Times New Roman"/>
              </a:rPr>
              <a:t>▪  Kiểm ở ba độ rộng màn hình, vùng chạm tối thiểu 44×44 điểm ảnh</a:t>
            </a:r>
          </a:p>
          <a:p>
            <a:pPr marL="324000" indent="-324000">
              <a:spcAft>
                <a:spcPts val="1600"/>
              </a:spcAft>
            </a:pPr>
            <a:r>
              <a:rPr sz="2800" b="0" i="0">
                <a:solidFill>
                  <a:srgbClr val="1A1A17"/>
                </a:solidFill>
                <a:latin typeface="Times New Roman"/>
              </a:rPr>
              <a:t>▪  docker compose up -d: bốn dịch vụ đều healthy</a:t>
            </a:r>
          </a:p>
        </p:txBody>
      </p:sp>
      <p:pic>
        <p:nvPicPr>
          <p:cNvPr id="5" name="Picture 4" descr="hinh-4-2-quet-kha-nang-tiep-can.png"/>
          <p:cNvPicPr>
            <a:picLocks noChangeAspect="1"/>
          </p:cNvPicPr>
          <p:nvPr/>
        </p:nvPicPr>
        <p:blipFill>
          <a:blip r:embed="rId2"/>
          <a:stretch>
            <a:fillRect/>
          </a:stretch>
        </p:blipFill>
        <p:spPr>
          <a:xfrm>
            <a:off x="6120000" y="2416074"/>
            <a:ext cx="5472000" cy="3105850"/>
          </a:xfrm>
          <a:prstGeom prst="rect">
            <a:avLst/>
          </a:prstGeom>
        </p:spPr>
      </p:pic>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BF9F6"/>
        </a:solidFill>
        <a:effectLst/>
      </p:bgPr>
    </p:bg>
    <p:spTree>
      <p:nvGrpSpPr>
        <p:cNvPr id="1" name=""/>
        <p:cNvGrpSpPr/>
        <p:nvPr/>
      </p:nvGrpSpPr>
      <p:grpSpPr/>
      <p:sp>
        <p:nvSpPr>
          <p:cNvPr id="2" name="Rectangle 1"/>
          <p:cNvSpPr/>
          <p:nvPr/>
        </p:nvSpPr>
        <p:spPr>
          <a:xfrm>
            <a:off x="0" y="0"/>
            <a:ext cx="12193200" cy="144000"/>
          </a:xfrm>
          <a:prstGeom prst="rect">
            <a:avLst/>
          </a:prstGeom>
          <a:solidFill>
            <a:srgbClr val="0E5C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8000" y="396000"/>
            <a:ext cx="10897200" cy="936000"/>
          </a:xfrm>
          <a:prstGeom prst="rect">
            <a:avLst/>
          </a:prstGeom>
          <a:noFill/>
        </p:spPr>
        <p:txBody>
          <a:bodyPr wrap="square" anchor="t">
            <a:spAutoFit/>
          </a:bodyPr>
          <a:lstStyle/>
          <a:p>
            <a:r>
              <a:rPr sz="4400" b="1" i="0">
                <a:solidFill>
                  <a:srgbClr val="0E5C63"/>
                </a:solidFill>
                <a:latin typeface="Times New Roman"/>
              </a:rPr>
              <a:t>Giới hạn đã biết</a:t>
            </a:r>
          </a:p>
        </p:txBody>
      </p:sp>
      <p:sp>
        <p:nvSpPr>
          <p:cNvPr id="4" name="TextBox 3"/>
          <p:cNvSpPr txBox="1"/>
          <p:nvPr/>
        </p:nvSpPr>
        <p:spPr>
          <a:xfrm>
            <a:off x="648000" y="1584000"/>
            <a:ext cx="10897200" cy="4770001"/>
          </a:xfrm>
          <a:prstGeom prst="rect">
            <a:avLst/>
          </a:prstGeom>
          <a:noFill/>
        </p:spPr>
        <p:txBody>
          <a:bodyPr wrap="square" anchor="t">
            <a:spAutoFit/>
          </a:bodyPr>
          <a:lstStyle/>
          <a:p>
            <a:pPr marL="324000" indent="-324000">
              <a:spcAft>
                <a:spcPts val="1600"/>
              </a:spcAft>
            </a:pPr>
            <a:r>
              <a:rPr sz="3200" b="0" i="0">
                <a:solidFill>
                  <a:srgbClr val="1A1A17"/>
                </a:solidFill>
                <a:latin typeface="Times New Roman"/>
              </a:rPr>
              <a:t>▪  Chưa có bảng giá theo từng đêm — giá hiện là giá cố định theo loại phòng</a:t>
            </a:r>
          </a:p>
          <a:p>
            <a:pPr marL="324000" indent="-324000">
              <a:spcAft>
                <a:spcPts val="1600"/>
              </a:spcAft>
            </a:pPr>
            <a:r>
              <a:rPr sz="3200" b="0" i="0">
                <a:solidFill>
                  <a:srgbClr val="1A1A17"/>
                </a:solidFill>
                <a:latin typeface="Times New Roman"/>
              </a:rPr>
              <a:t>▪  Tầng giao diện chưa có bộ kiểm thử tự động thường trực</a:t>
            </a:r>
          </a:p>
          <a:p>
            <a:pPr marL="324000" indent="-324000">
              <a:spcAft>
                <a:spcPts val="1600"/>
              </a:spcAft>
            </a:pPr>
            <a:r>
              <a:rPr sz="3200" b="0" i="0">
                <a:solidFill>
                  <a:srgbClr val="1A1A17"/>
                </a:solidFill>
                <a:latin typeface="Times New Roman"/>
              </a:rPr>
              <a:t>▪  Hoàn tiền chưa tự động, chỉ ghi nhận để người xử lý</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BF9F6"/>
        </a:solidFill>
        <a:effectLst/>
      </p:bgPr>
    </p:bg>
    <p:spTree>
      <p:nvGrpSpPr>
        <p:cNvPr id="1" name=""/>
        <p:cNvGrpSpPr/>
        <p:nvPr/>
      </p:nvGrpSpPr>
      <p:grpSpPr/>
      <p:sp>
        <p:nvSpPr>
          <p:cNvPr id="2" name="Rectangle 1"/>
          <p:cNvSpPr/>
          <p:nvPr/>
        </p:nvSpPr>
        <p:spPr>
          <a:xfrm>
            <a:off x="0" y="0"/>
            <a:ext cx="12193200" cy="144000"/>
          </a:xfrm>
          <a:prstGeom prst="rect">
            <a:avLst/>
          </a:prstGeom>
          <a:solidFill>
            <a:srgbClr val="0E5C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8000" y="396000"/>
            <a:ext cx="10897200" cy="936000"/>
          </a:xfrm>
          <a:prstGeom prst="rect">
            <a:avLst/>
          </a:prstGeom>
          <a:noFill/>
        </p:spPr>
        <p:txBody>
          <a:bodyPr wrap="square" anchor="t">
            <a:spAutoFit/>
          </a:bodyPr>
          <a:lstStyle/>
          <a:p>
            <a:r>
              <a:rPr sz="4400" b="1" i="0">
                <a:solidFill>
                  <a:srgbClr val="0E5C63"/>
                </a:solidFill>
                <a:latin typeface="Times New Roman"/>
              </a:rPr>
              <a:t>Hướng phát triển</a:t>
            </a:r>
          </a:p>
        </p:txBody>
      </p:sp>
      <p:sp>
        <p:nvSpPr>
          <p:cNvPr id="4" name="TextBox 3"/>
          <p:cNvSpPr txBox="1"/>
          <p:nvPr/>
        </p:nvSpPr>
        <p:spPr>
          <a:xfrm>
            <a:off x="648000" y="1584000"/>
            <a:ext cx="10897200" cy="4770001"/>
          </a:xfrm>
          <a:prstGeom prst="rect">
            <a:avLst/>
          </a:prstGeom>
          <a:noFill/>
        </p:spPr>
        <p:txBody>
          <a:bodyPr wrap="square" anchor="t">
            <a:spAutoFit/>
          </a:bodyPr>
          <a:lstStyle/>
          <a:p>
            <a:pPr marL="324000" indent="-324000">
              <a:spcAft>
                <a:spcPts val="1600"/>
              </a:spcAft>
            </a:pPr>
            <a:r>
              <a:rPr sz="3200" b="0" i="0">
                <a:solidFill>
                  <a:srgbClr val="1A1A17"/>
                </a:solidFill>
                <a:latin typeface="Times New Roman"/>
              </a:rPr>
              <a:t>▪  Bảng giá theo mùa và theo ngày trong tuần</a:t>
            </a:r>
          </a:p>
          <a:p>
            <a:pPr marL="324000" indent="-324000">
              <a:spcAft>
                <a:spcPts val="1600"/>
              </a:spcAft>
            </a:pPr>
            <a:r>
              <a:rPr sz="3200" b="0" i="0">
                <a:solidFill>
                  <a:srgbClr val="1A1A17"/>
                </a:solidFill>
                <a:latin typeface="Times New Roman"/>
              </a:rPr>
              <a:t>▪  Ứng dụng di động — dùng lại nguyên giao diện lập trình ứng dụng</a:t>
            </a:r>
          </a:p>
          <a:p>
            <a:pPr marL="324000" indent="-324000">
              <a:spcAft>
                <a:spcPts val="1600"/>
              </a:spcAft>
            </a:pPr>
            <a:r>
              <a:rPr sz="3200" b="0" i="0">
                <a:solidFill>
                  <a:srgbClr val="1A1A17"/>
                </a:solidFill>
                <a:latin typeface="Times New Roman"/>
              </a:rPr>
              <a:t>▪  Đồng bộ lịch hai chiều với sàn trung gian</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BF9F6"/>
        </a:solidFill>
        <a:effectLst/>
      </p:bgPr>
    </p:bg>
    <p:spTree>
      <p:nvGrpSpPr>
        <p:cNvPr id="1" name=""/>
        <p:cNvGrpSpPr/>
        <p:nvPr/>
      </p:nvGrpSpPr>
      <p:grpSpPr/>
      <p:sp>
        <p:nvSpPr>
          <p:cNvPr id="2" name="Rectangle 1"/>
          <p:cNvSpPr/>
          <p:nvPr/>
        </p:nvSpPr>
        <p:spPr>
          <a:xfrm>
            <a:off x="0" y="0"/>
            <a:ext cx="12193200" cy="144000"/>
          </a:xfrm>
          <a:prstGeom prst="rect">
            <a:avLst/>
          </a:prstGeom>
          <a:solidFill>
            <a:srgbClr val="0E5C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8000" y="396000"/>
            <a:ext cx="10897200" cy="936000"/>
          </a:xfrm>
          <a:prstGeom prst="rect">
            <a:avLst/>
          </a:prstGeom>
          <a:noFill/>
        </p:spPr>
        <p:txBody>
          <a:bodyPr wrap="square" anchor="t">
            <a:spAutoFit/>
          </a:bodyPr>
          <a:lstStyle/>
          <a:p>
            <a:r>
              <a:rPr sz="4400" b="1" i="0">
                <a:solidFill>
                  <a:srgbClr val="0E5C63"/>
                </a:solidFill>
                <a:latin typeface="Times New Roman"/>
              </a:rPr>
              <a:t>Liên kết</a:t>
            </a:r>
          </a:p>
        </p:txBody>
      </p:sp>
      <p:sp>
        <p:nvSpPr>
          <p:cNvPr id="4" name="TextBox 3"/>
          <p:cNvSpPr txBox="1"/>
          <p:nvPr/>
        </p:nvSpPr>
        <p:spPr>
          <a:xfrm>
            <a:off x="648000" y="1584000"/>
            <a:ext cx="10897200" cy="4770001"/>
          </a:xfrm>
          <a:prstGeom prst="rect">
            <a:avLst/>
          </a:prstGeom>
          <a:noFill/>
        </p:spPr>
        <p:txBody>
          <a:bodyPr wrap="square" anchor="t">
            <a:spAutoFit/>
          </a:bodyPr>
          <a:lstStyle/>
          <a:p>
            <a:pPr marL="324000" indent="-324000">
              <a:spcAft>
                <a:spcPts val="1600"/>
              </a:spcAft>
            </a:pPr>
            <a:r>
              <a:rPr sz="3200" b="0" i="0">
                <a:solidFill>
                  <a:srgbClr val="1A1A17"/>
                </a:solidFill>
                <a:latin typeface="Times New Roman"/>
              </a:rPr>
              <a:t>▪  Video thuyết trình:  «DÁN LIÊN KẾT GOOGLE DRIVE VÀO ĐÂY»</a:t>
            </a:r>
          </a:p>
          <a:p>
            <a:pPr marL="324000" indent="-324000">
              <a:spcAft>
                <a:spcPts val="1600"/>
              </a:spcAft>
            </a:pPr>
            <a:r>
              <a:rPr sz="3200" b="0" i="0">
                <a:solidFill>
                  <a:srgbClr val="1A1A17"/>
                </a:solidFill>
                <a:latin typeface="Times New Roman"/>
              </a:rPr>
              <a:t>▪  Mã nguồn và toàn bộ tài liệu:</a:t>
            </a:r>
          </a:p>
          <a:p>
            <a:pPr marL="324000" indent="-324000">
              <a:spcAft>
                <a:spcPts val="1600"/>
              </a:spcAft>
            </a:pPr>
            <a:r>
              <a:rPr sz="3200" b="0" i="0">
                <a:solidFill>
                  <a:srgbClr val="1A1A17"/>
                </a:solidFill>
                <a:latin typeface="Times New Roman"/>
              </a:rPr>
              <a:t>▪  github.com/nhquan403/cn-dx23tt11-nguyenhongquan-homestay-tvu</a:t>
            </a:r>
          </a:p>
          <a:p>
            <a:pPr marL="324000" indent="-324000">
              <a:spcAft>
                <a:spcPts val="1600"/>
              </a:spcAft>
            </a:pPr>
            <a:r>
              <a:rPr sz="3200" b="0" i="0">
                <a:solidFill>
                  <a:srgbClr val="1A1A17"/>
                </a:solidFill>
                <a:latin typeface="Times New Roman"/>
              </a:rPr>
              <a:t>▪  Bản trình diễn hệ thống 10 phút: thesis/abs/ trong kho mã nguồn</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0E5C63"/>
        </a:solidFill>
        <a:effectLst/>
      </p:bgPr>
    </p:bg>
    <p:spTree>
      <p:nvGrpSpPr>
        <p:cNvPr id="1" name=""/>
        <p:cNvGrpSpPr/>
        <p:nvPr/>
      </p:nvGrpSpPr>
      <p:grpSpPr/>
      <p:sp>
        <p:nvSpPr>
          <p:cNvPr id="2" name="TextBox 1"/>
          <p:cNvSpPr txBox="1"/>
          <p:nvPr/>
        </p:nvSpPr>
        <p:spPr>
          <a:xfrm>
            <a:off x="900000" y="2160000"/>
            <a:ext cx="10393200" cy="2520000"/>
          </a:xfrm>
          <a:prstGeom prst="rect">
            <a:avLst/>
          </a:prstGeom>
          <a:noFill/>
        </p:spPr>
        <p:txBody>
          <a:bodyPr wrap="square" anchor="ctr">
            <a:spAutoFit/>
          </a:bodyPr>
          <a:lstStyle/>
          <a:p>
            <a:pPr algn="ctr"/>
            <a:r>
              <a:rPr sz="5400" b="1" i="0">
                <a:solidFill>
                  <a:srgbClr val="FFFFFF"/>
                </a:solidFill>
                <a:latin typeface="Times New Roman"/>
              </a:rPr>
              <a:t>Cảm ơn thầy cô đã lắng nghe</a:t>
            </a:r>
          </a:p>
          <a:p>
            <a:pPr algn="ctr">
              <a:spcBef>
                <a:spcPts val="2400"/>
              </a:spcBef>
            </a:pPr>
            <a:r>
              <a:rPr sz="2600" b="0" i="0">
                <a:solidFill>
                  <a:srgbClr val="C8DED6"/>
                </a:solidFill>
                <a:latin typeface="Times New Roman"/>
              </a:rPr>
              <a:t>Em xin sẵn sàng trả lời câu hỏi</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